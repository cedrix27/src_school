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143000"/>
            <a:ext cx="914400" cy="9144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143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1234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0D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DIGITAL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688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SRC SCHOOL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703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SaaS de gestion scolaire multi-établissements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94360" y="4434840"/>
            <a:ext cx="201168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 — Équipe SRC DIGITAL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Septembre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SRC SCHOOL 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E8EEF7"/>
          </a:solidFill>
          <a:ln/>
        </p:spPr>
      </p:sp>
      <p:sp>
        <p:nvSpPr>
          <p:cNvPr id="5" name="Shape 3"/>
          <p:cNvSpPr/>
          <p:nvPr/>
        </p:nvSpPr>
        <p:spPr>
          <a:xfrm>
            <a:off x="845820" y="18973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5820" y="18973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19476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papier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7889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Inscriptions, notes et présences encore gérées sur papier ou tableurs isolés.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169164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E8EEF7"/>
          </a:solidFill>
          <a:ln/>
        </p:spPr>
      </p:sp>
      <p:sp>
        <p:nvSpPr>
          <p:cNvPr id="10" name="Shape 8"/>
          <p:cNvSpPr/>
          <p:nvPr/>
        </p:nvSpPr>
        <p:spPr>
          <a:xfrm>
            <a:off x="6377940" y="18973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77940" y="18973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9476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dispersées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7889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vision centralisée : chaque école gère ses propres outils, sans lien entre eux.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E8EE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45820" y="42748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" y="42748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📵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43251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limitée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1663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parents reçoivent peu d'informations fiables sur leurs enfants (absences, notes, paiements).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80760" y="406908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E8EE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377940" y="42748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77940" y="42748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43251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de vision multi-écoles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51663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DIGITAL n'a aujourd'hui aucun moyen de gérer plusieurs établissements depuis une même plateforme.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SCHOOL — Cahier des charges &amp; présentation projet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DU PRODUIT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écosystème, pas une simple application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SCHOOL relie 5 interfaces spécialisées à une infrastructure backend commune.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82996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🌐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4265676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SRC DIGITAL — Web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94476" y="3063240"/>
            <a:ext cx="0" cy="41148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88636" y="347472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88636" y="3474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94476" y="3840480"/>
            <a:ext cx="-3762756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31720" y="3840480"/>
            <a:ext cx="0" cy="32004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88820" y="4229100"/>
            <a:ext cx="685800" cy="6858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988820" y="42291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9560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École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(Desktop)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94476" y="3840480"/>
            <a:ext cx="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4476" y="3840480"/>
            <a:ext cx="0" cy="32004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51576" y="4229100"/>
            <a:ext cx="685800" cy="6858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751576" y="42291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180076" y="49560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(Desktop)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94476" y="3840480"/>
            <a:ext cx="3762756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57232" y="3840480"/>
            <a:ext cx="0" cy="32004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14332" y="4229100"/>
            <a:ext cx="685800" cy="6858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514332" y="42291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942832" y="49560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Enseignant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(Mobile)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13098" y="5440680"/>
            <a:ext cx="0" cy="27432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29634" y="570585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929634" y="5705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3024378" y="62910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via WhatsApp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SCHOOL — Cahier des charges &amp; présentation projet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SRC SCHOOL doit permettre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141B4D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40280"/>
            <a:ext cx="640080" cy="6400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🗂️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0574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Centraliser les informations scolaires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141B4D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2240280"/>
            <a:ext cx="640080" cy="6400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0574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les tâches administratives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141B4D"/>
          </a:solidFill>
          <a:ln/>
        </p:spPr>
      </p:sp>
      <p:sp>
        <p:nvSpPr>
          <p:cNvPr id="13" name="Shape 11"/>
          <p:cNvSpPr/>
          <p:nvPr/>
        </p:nvSpPr>
        <p:spPr>
          <a:xfrm>
            <a:off x="8321040" y="2240280"/>
            <a:ext cx="640080" cy="6400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2104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🧑‍🏫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20574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Faciliter le travail des enseignants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141B4D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3977640"/>
            <a:ext cx="640080" cy="6400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37947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Simplifier la gestion financière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97680" y="356616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141B4D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0" y="3977640"/>
            <a:ext cx="640080" cy="6400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👨‍👩‍👧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349240" y="37947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Améliorer la communication avec les parents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46720" y="356616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141B4D"/>
          </a:solidFill>
          <a:ln/>
        </p:spPr>
      </p:sp>
      <p:sp>
        <p:nvSpPr>
          <p:cNvPr id="25" name="Shape 23"/>
          <p:cNvSpPr/>
          <p:nvPr/>
        </p:nvSpPr>
        <p:spPr>
          <a:xfrm>
            <a:off x="8321040" y="3977640"/>
            <a:ext cx="640080" cy="6400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2104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098280" y="37947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Sécuriser les données des établissements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SCHOOL — Cahier des charges &amp; présentation projet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plateforme SaaS multi-établissements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école dispose d'un espace logique isolé : aucune donnée ne doit être accessible d'un établissement à l'autre.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3796" y="2331720"/>
            <a:ext cx="3383280" cy="3657600"/>
          </a:xfrm>
          <a:prstGeom prst="roundRect">
            <a:avLst>
              <a:gd name="adj" fmla="val 2162"/>
            </a:avLst>
          </a:prstGeom>
          <a:solidFill>
            <a:srgbClr val="E8EEF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25396" y="25603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025396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🏫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3796" y="3291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École 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10996" y="3794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Élèves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110996" y="41422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Enseignants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10996" y="448970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Classes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110996" y="48371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Notes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110996" y="51846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Présences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110996" y="5532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Finances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02836" y="2331720"/>
            <a:ext cx="3383280" cy="3657600"/>
          </a:xfrm>
          <a:prstGeom prst="roundRect">
            <a:avLst>
              <a:gd name="adj" fmla="val 2162"/>
            </a:avLst>
          </a:prstGeom>
          <a:solidFill>
            <a:srgbClr val="E8EEF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74436" y="25603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774436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🏫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402836" y="3291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École B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860036" y="3794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Élèves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860036" y="41422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Enseignants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860036" y="448970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Classes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860036" y="48371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Notes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860036" y="51846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Présences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860036" y="5532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Finances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51876" y="2331720"/>
            <a:ext cx="3383280" cy="3657600"/>
          </a:xfrm>
          <a:prstGeom prst="roundRect">
            <a:avLst>
              <a:gd name="adj" fmla="val 2162"/>
            </a:avLst>
          </a:prstGeom>
          <a:solidFill>
            <a:srgbClr val="E8EEF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23476" y="25603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523476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🏫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8151876" y="3291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École C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609076" y="3794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Élèves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8609076" y="41422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Enseignants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609076" y="448970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Classes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609076" y="48371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Notes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609076" y="51846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Présences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609076" y="5532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Finances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SCHOOL — Cahier des charges &amp; présentation projet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profils, 5 interfaces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E8EEF7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88366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883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73736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SRC DIGITAL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60720" y="1975104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760720" y="19751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1737360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globale de la plateforme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960120" y="279806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2798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🖥️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265176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 École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760720" y="2889504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760720" y="28895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2651760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l'établissement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E8EEF7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" y="371246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0120" y="37124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🖥️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691640" y="356616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Comptable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760720" y="3803904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760720" y="38039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406640" y="3566160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financière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4805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960120" y="462686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0120" y="4626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691640" y="448056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Enseignant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760720" y="4718304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760720" y="47183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406640" y="4480560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pédagogique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53949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E8EEF7"/>
          </a:solidFill>
          <a:ln/>
        </p:spPr>
      </p:sp>
      <p:sp>
        <p:nvSpPr>
          <p:cNvPr id="33" name="Shape 31"/>
          <p:cNvSpPr/>
          <p:nvPr/>
        </p:nvSpPr>
        <p:spPr>
          <a:xfrm>
            <a:off x="960120" y="554126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60120" y="5541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691640" y="539496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/ Tuteur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760720" y="5632704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760720" y="56327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7406640" y="5394960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avec l'école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SCHOOL — Cahier des charges &amp; présentation projet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 Admin &amp; Administrateur École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E8EE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🌐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98424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 Admin SRC DIGITAL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34640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SaaS : écoles, élèves, abonnements, revenus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Créer, activer, suspendre une école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plans et abonnements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les statistiques d'utilisation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169164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E8EEF7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0" y="19202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🖥️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98424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Administrateur École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834640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: élèves, enseignants, absences, paiements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élèves, inscriptions et classes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enseignants et des matières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des bulletins et communications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SCHOOL — Cahier des charges &amp; présentation projet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Comptable &amp; Enseignant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E8EE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💳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98424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Comptable (Desktop)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34640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financier : recettes, impayés, recouvrement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frais (scolarité, cantine, transport…)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 des paiements et reçus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impayés et rappels WhatsApp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169164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E8EEF7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0" y="19202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📱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98424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Enseignant (Mobile)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834640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Présences par classe, synchronisées en temps réel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des notes par classe et matière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de l'emploi du temps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et suivi des devoirs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SCHOOL — Cahier des charges &amp; présentation projet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parents restent informés — sans nouvelle app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parent n'installe rien : WhatsApp est son unique interface avec l'école dans la première version.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2537460"/>
            <a:ext cx="685800" cy="6858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63040" y="25374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📵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37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Absence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794760"/>
            <a:ext cx="21488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8862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Votre enfant a été marqué absent aujourd'hui. »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19272" y="228600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4233672" y="2537460"/>
            <a:ext cx="685800" cy="6858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33672" y="25374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319272" y="3337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502152" y="3794760"/>
            <a:ext cx="21488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39312" y="38862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Une nouvelle note est disponible. »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9904" y="228600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18" name="Shape 16"/>
          <p:cNvSpPr/>
          <p:nvPr/>
        </p:nvSpPr>
        <p:spPr>
          <a:xfrm>
            <a:off x="7004304" y="2537460"/>
            <a:ext cx="685800" cy="6858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04304" y="25374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089904" y="3337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Paiement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72784" y="3794760"/>
            <a:ext cx="21488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9944" y="38862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Votre solde de scolarité est de 75 000 FCFA. »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860536" y="228600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24" name="Shape 22"/>
          <p:cNvSpPr/>
          <p:nvPr/>
        </p:nvSpPr>
        <p:spPr>
          <a:xfrm>
            <a:off x="9774936" y="2537460"/>
            <a:ext cx="685800" cy="6858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774936" y="25374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8860536" y="3337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Bulletin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043416" y="3794760"/>
            <a:ext cx="21488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80576" y="38862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sécurisé pour récupérer le bulletin PDF.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SCHOOL — Cahier des charges &amp; présentation projet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sécurité, une priorité dès la conception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41B4D"/>
          </a:solidFill>
          <a:ln/>
        </p:spPr>
      </p:sp>
      <p:sp>
        <p:nvSpPr>
          <p:cNvPr id="5" name="Shape 3"/>
          <p:cNvSpPr/>
          <p:nvPr/>
        </p:nvSpPr>
        <p:spPr>
          <a:xfrm>
            <a:off x="845820" y="2080260"/>
            <a:ext cx="594360" cy="59436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5820" y="20802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🔑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057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de passe hashés, sessions sécurisées, 2FA possible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41B4D"/>
          </a:solidFill>
          <a:ln/>
        </p:spPr>
      </p:sp>
      <p:sp>
        <p:nvSpPr>
          <p:cNvPr id="10" name="Shape 8"/>
          <p:cNvSpPr/>
          <p:nvPr/>
        </p:nvSpPr>
        <p:spPr>
          <a:xfrm>
            <a:off x="4594860" y="2080260"/>
            <a:ext cx="594360" cy="59436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4860" y="20802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🛡️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2057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6974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strictes par rôle : admin, comptable, enseignant, parent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41B4D"/>
          </a:solidFill>
          <a:ln/>
        </p:spPr>
      </p:sp>
      <p:sp>
        <p:nvSpPr>
          <p:cNvPr id="15" name="Shape 13"/>
          <p:cNvSpPr/>
          <p:nvPr/>
        </p:nvSpPr>
        <p:spPr>
          <a:xfrm>
            <a:off x="8343900" y="2080260"/>
            <a:ext cx="594360" cy="59436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43900" y="20802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🔐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9052560" y="2057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6974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 en HTTPS/TLS, séparation stricte des tenants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41B4D"/>
          </a:solidFill>
          <a:ln/>
        </p:spPr>
      </p:sp>
      <p:sp>
        <p:nvSpPr>
          <p:cNvPr id="20" name="Shape 18"/>
          <p:cNvSpPr/>
          <p:nvPr/>
        </p:nvSpPr>
        <p:spPr>
          <a:xfrm>
            <a:off x="845820" y="3954780"/>
            <a:ext cx="594360" cy="59436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5820" y="39547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📜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3931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5720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Journalisation des opérations sensibles : qui, quoi, quand, où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370332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41B4D"/>
          </a:solidFill>
          <a:ln/>
        </p:spPr>
      </p:sp>
      <p:sp>
        <p:nvSpPr>
          <p:cNvPr id="25" name="Shape 23"/>
          <p:cNvSpPr/>
          <p:nvPr/>
        </p:nvSpPr>
        <p:spPr>
          <a:xfrm>
            <a:off x="4594860" y="3954780"/>
            <a:ext cx="594360" cy="59436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94860" y="39547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💾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3931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45720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Sauvegardes automatiques quotidiennes et tests de restauration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370332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41B4D"/>
          </a:solidFill>
          <a:ln/>
        </p:spPr>
      </p:sp>
      <p:sp>
        <p:nvSpPr>
          <p:cNvPr id="30" name="Shape 28"/>
          <p:cNvSpPr/>
          <p:nvPr/>
        </p:nvSpPr>
        <p:spPr>
          <a:xfrm>
            <a:off x="8343900" y="3954780"/>
            <a:ext cx="594360" cy="59436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43900" y="39547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🚧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9052560" y="3931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protégée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45720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entrées, rate limiting, contrôle des permissions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SCHOOL — Cahier des charges &amp; présentation projet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stack envisagée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8EEF7"/>
          </a:solidFill>
          <a:ln/>
        </p:spPr>
      </p:sp>
      <p:sp>
        <p:nvSpPr>
          <p:cNvPr id="5" name="Shape 3"/>
          <p:cNvSpPr/>
          <p:nvPr/>
        </p:nvSpPr>
        <p:spPr>
          <a:xfrm>
            <a:off x="1965960" y="18973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65960" y="18973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517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718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FastAPI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Java / Spring Boot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8EEF7"/>
          </a:solidFill>
          <a:ln/>
        </p:spPr>
      </p:sp>
      <p:sp>
        <p:nvSpPr>
          <p:cNvPr id="10" name="Shape 8"/>
          <p:cNvSpPr/>
          <p:nvPr/>
        </p:nvSpPr>
        <p:spPr>
          <a:xfrm>
            <a:off x="5715000" y="18973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715000" y="18973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26517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9718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8EEF7"/>
          </a:solidFill>
          <a:ln/>
        </p:spPr>
      </p:sp>
      <p:sp>
        <p:nvSpPr>
          <p:cNvPr id="15" name="Shape 13"/>
          <p:cNvSpPr/>
          <p:nvPr/>
        </p:nvSpPr>
        <p:spPr>
          <a:xfrm>
            <a:off x="9464040" y="18973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464040" y="18973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26517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Web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29718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Next.js / TypeScript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8EEF7"/>
          </a:solidFill>
          <a:ln/>
        </p:spPr>
      </p:sp>
      <p:sp>
        <p:nvSpPr>
          <p:cNvPr id="20" name="Shape 18"/>
          <p:cNvSpPr/>
          <p:nvPr/>
        </p:nvSpPr>
        <p:spPr>
          <a:xfrm>
            <a:off x="1965960" y="39090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965960" y="39090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6634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(Admin, Comptable)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9834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/ .NET (WPF, WinUI)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Flutter Desktop / Electron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3749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8EEF7"/>
          </a:solidFill>
          <a:ln/>
        </p:spPr>
      </p:sp>
      <p:sp>
        <p:nvSpPr>
          <p:cNvPr id="25" name="Shape 23"/>
          <p:cNvSpPr/>
          <p:nvPr/>
        </p:nvSpPr>
        <p:spPr>
          <a:xfrm>
            <a:off x="5715000" y="39090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715000" y="39090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297680" y="46634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480560" y="49834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3749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8EEF7"/>
          </a:solidFill>
          <a:ln/>
        </p:spPr>
      </p:sp>
      <p:sp>
        <p:nvSpPr>
          <p:cNvPr id="30" name="Shape 28"/>
          <p:cNvSpPr/>
          <p:nvPr/>
        </p:nvSpPr>
        <p:spPr>
          <a:xfrm>
            <a:off x="9464040" y="39090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464040" y="39090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🏗️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046720" y="46634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49834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Linux, Docker, Nginx, Redis, monitoring, sauvegardes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SCHOOL — Cahier des charges &amp; présentation projet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— la première version commerciale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103120" cy="420624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303020" y="1988820"/>
            <a:ext cx="594360" cy="59436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03020" y="19888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🌐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 Admin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246120"/>
            <a:ext cx="1737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écoles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Abonnements &amp; statistiques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16352" y="1737360"/>
            <a:ext cx="2103120" cy="4206240"/>
          </a:xfrm>
          <a:prstGeom prst="roundRect">
            <a:avLst>
              <a:gd name="adj" fmla="val 3478"/>
            </a:avLst>
          </a:prstGeom>
          <a:solidFill>
            <a:srgbClr val="141B4D"/>
          </a:solidFill>
          <a:ln/>
        </p:spPr>
      </p:sp>
      <p:sp>
        <p:nvSpPr>
          <p:cNvPr id="10" name="Shape 8"/>
          <p:cNvSpPr/>
          <p:nvPr/>
        </p:nvSpPr>
        <p:spPr>
          <a:xfrm>
            <a:off x="3570732" y="1988820"/>
            <a:ext cx="594360" cy="59436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70732" y="19888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🖥️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907792" y="2697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Desktop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3246120"/>
            <a:ext cx="1737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Élèves &amp; inscriptions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Enseignants &amp; classes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Présences, notes, bulletins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84064" y="1737360"/>
            <a:ext cx="2103120" cy="420624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5838444" y="1988820"/>
            <a:ext cx="594360" cy="59436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838444" y="19888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💳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175504" y="2697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Comptable Desktop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285232" y="3246120"/>
            <a:ext cx="1737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&amp; paiements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Reçus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Impayés &amp; rapports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51776" y="1737360"/>
            <a:ext cx="2103120" cy="4206240"/>
          </a:xfrm>
          <a:prstGeom prst="roundRect">
            <a:avLst>
              <a:gd name="adj" fmla="val 3478"/>
            </a:avLst>
          </a:prstGeom>
          <a:solidFill>
            <a:srgbClr val="141B4D"/>
          </a:solidFill>
          <a:ln/>
        </p:spPr>
      </p:sp>
      <p:sp>
        <p:nvSpPr>
          <p:cNvPr id="20" name="Shape 18"/>
          <p:cNvSpPr/>
          <p:nvPr/>
        </p:nvSpPr>
        <p:spPr>
          <a:xfrm>
            <a:off x="8106156" y="1988820"/>
            <a:ext cx="594360" cy="59436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106156" y="19888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📱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443216" y="2697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Enseignant Mobile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552944" y="3246120"/>
            <a:ext cx="1737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emploi du temps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&amp; notifications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19488" y="1737360"/>
            <a:ext cx="2103120" cy="420624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</p:spPr>
      </p:sp>
      <p:sp>
        <p:nvSpPr>
          <p:cNvPr id="25" name="Shape 23"/>
          <p:cNvSpPr/>
          <p:nvPr/>
        </p:nvSpPr>
        <p:spPr>
          <a:xfrm>
            <a:off x="10373868" y="1988820"/>
            <a:ext cx="594360" cy="59436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373868" y="19888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💬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9710928" y="2697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 WhatsApp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820656" y="3246120"/>
            <a:ext cx="1737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Absences &amp; notes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Annonces &amp; bulletin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SCHOOL — Cahier des charges &amp; présentation projet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ÉCONOMIQUE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abonnement SaaS, à valider avec l'équipe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99516" y="1783080"/>
            <a:ext cx="3383280" cy="4023360"/>
          </a:xfrm>
          <a:prstGeom prst="roundRect">
            <a:avLst>
              <a:gd name="adj" fmla="val 2162"/>
            </a:avLst>
          </a:prstGeom>
          <a:solidFill>
            <a:srgbClr val="E8EEF7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9516" y="2103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99516" y="2651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25 000 FCFA / mois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19556" y="33832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Petits établissements, fonctionnalités essentielles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02836" y="1645920"/>
            <a:ext cx="3383280" cy="4297680"/>
          </a:xfrm>
          <a:prstGeom prst="roundRect">
            <a:avLst>
              <a:gd name="adj" fmla="val 2162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02836" y="1965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402836" y="2514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D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50 000 – 75 000 FCFA / mois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722876" y="32461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Établissements de taille moyenne, usage étendu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06156" y="1783080"/>
            <a:ext cx="3383280" cy="4023360"/>
          </a:xfrm>
          <a:prstGeom prst="roundRect">
            <a:avLst>
              <a:gd name="adj" fmla="val 2162"/>
            </a:avLst>
          </a:prstGeom>
          <a:solidFill>
            <a:srgbClr val="E8EEF7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06156" y="2103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106156" y="2651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100 000 FCFA+ / mois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426196" y="33832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Grands établissements, besoins avancés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 indicatifs — à affiner selon le nombre d'élèves, l'hébergement, WhatsApp/SMS et le support.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SCHOOL — Cahier des charges &amp; présentation projet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DE ROUTE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conception à la commercialisation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1600" y="3291840"/>
            <a:ext cx="9445752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0140" y="30403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20140" y="30403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3035808"/>
            <a:ext cx="0" cy="-50292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41148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225856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charges, architecture, maquettes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09290" y="3040380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009290" y="30403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60750" y="3547872"/>
            <a:ext cx="0" cy="50292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2300630" y="4069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&amp; Web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300630" y="445312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multi-tenant, Super Admin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98441" y="30403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98441" y="30403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49901" y="3035808"/>
            <a:ext cx="0" cy="-50292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4189781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Desktop &amp; Mobile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189781" y="225856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Comptable, application Enseignant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87591" y="3040380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87591" y="30403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039051" y="3547872"/>
            <a:ext cx="0" cy="50292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6078931" y="4069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&amp; Tests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078931" y="445312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Intégration, tests fonctionnels et sécurité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676742" y="30403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76742" y="30403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928202" y="3035808"/>
            <a:ext cx="0" cy="-50292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7968082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968082" y="225856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à 3 établissements pilotes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565892" y="3040380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565892" y="30403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817352" y="3547872"/>
            <a:ext cx="0" cy="50292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9857232" y="4069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Commercialisation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857232" y="445312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progressif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SCHOOL — Cahier des charges &amp; présentation projet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75488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Valider ensemble le périmètre et démarrer la conception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468880"/>
            <a:ext cx="7772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le périmètre du MVP présenté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la stack backend (FastAPI ou Spring Boot)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2 à 3 écoles pilotes potentielles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la phase de conception (maquettes, modèle de données)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5943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D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2026-09-12T03:05:10Z</dcterms:created>
  <dcterms:modified xsi:type="dcterms:W3CDTF">2026-09-12T03:05:10Z</dcterms:modified>
</cp:coreProperties>
</file>